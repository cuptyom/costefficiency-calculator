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693" autoAdjust="0"/>
  </p:normalViewPr>
  <p:slideViewPr>
    <p:cSldViewPr snapToGrid="0">
      <p:cViewPr varScale="1">
        <p:scale>
          <a:sx n="66" d="100"/>
          <a:sy n="66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96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39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99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78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07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59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132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599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23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818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23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27D4CBA-275E-4289-A229-0A03DD282A82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459D05D-D095-409F-B736-8428103EE4BC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01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886902" cy="3566160"/>
          </a:xfrm>
        </p:spPr>
        <p:txBody>
          <a:bodyPr>
            <a:normAutofit fontScale="90000"/>
          </a:bodyPr>
          <a:lstStyle/>
          <a:p>
            <a:r>
              <a:rPr lang="ru-RU" dirty="0"/>
              <a:t>Калькулятор экономической эффективности разработки программного обеспечения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Разработали</a:t>
            </a:r>
            <a:r>
              <a:rPr lang="en-US" dirty="0" smtClean="0"/>
              <a:t>: </a:t>
            </a:r>
            <a:r>
              <a:rPr lang="ru-RU" dirty="0" smtClean="0"/>
              <a:t>Филиппков </a:t>
            </a:r>
            <a:r>
              <a:rPr lang="ru-RU" dirty="0" err="1" smtClean="0"/>
              <a:t>И.а</a:t>
            </a:r>
            <a:r>
              <a:rPr lang="ru-RU" dirty="0" smtClean="0"/>
              <a:t>., </a:t>
            </a:r>
            <a:r>
              <a:rPr lang="ru-RU" dirty="0" err="1" smtClean="0"/>
              <a:t>Шемелин</a:t>
            </a:r>
            <a:r>
              <a:rPr lang="ru-RU" dirty="0" smtClean="0"/>
              <a:t> </a:t>
            </a:r>
            <a:r>
              <a:rPr lang="ru-RU" dirty="0" err="1" smtClean="0"/>
              <a:t>а.а</a:t>
            </a:r>
            <a:r>
              <a:rPr lang="ru-RU" dirty="0" smtClean="0"/>
              <a:t>. (группа 3ис1)</a:t>
            </a:r>
          </a:p>
          <a:p>
            <a:r>
              <a:rPr lang="ru-RU" dirty="0" smtClean="0"/>
              <a:t>Руководитель</a:t>
            </a:r>
            <a:r>
              <a:rPr lang="en-US" dirty="0" smtClean="0"/>
              <a:t>: </a:t>
            </a:r>
            <a:r>
              <a:rPr lang="ru-RU" dirty="0" err="1" smtClean="0"/>
              <a:t>гаврилов</a:t>
            </a:r>
            <a:r>
              <a:rPr lang="ru-RU" dirty="0" smtClean="0"/>
              <a:t> </a:t>
            </a:r>
            <a:r>
              <a:rPr lang="ru-RU" dirty="0" err="1" smtClean="0"/>
              <a:t>а.и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634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Проблема и целевая аудитория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540625" y="1944777"/>
            <a:ext cx="306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Проблема: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2521527"/>
            <a:ext cx="49294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разработке ПО сложно оперативно оценить его экономическую целесообразность.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Существующие методики расчёта громоздки, требуют знания множества формул и ручной работы с таблицами.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Ошибки в расчётах ведут к неверным управленческим решениям.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2880" y="1944777"/>
            <a:ext cx="306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Целевая аудитория: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495011" y="2521526"/>
            <a:ext cx="479090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Студенты и аспиранты, выполняющие дипломные работы по разработке ПО (нуждаются в быстром и наглядном расчёте экономической эффективности).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Начинающие предприниматели и </a:t>
            </a:r>
            <a:r>
              <a:rPr lang="ru-RU" dirty="0" err="1"/>
              <a:t>стартап</a:t>
            </a:r>
            <a:r>
              <a:rPr lang="ru-RU" dirty="0"/>
              <a:t>-команды, оценивающие окупаемость своих IT-проектов.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Менеджеры IT-отделов при обосновании бюджетов на разработку.</a:t>
            </a:r>
          </a:p>
        </p:txBody>
      </p:sp>
    </p:spTree>
    <p:extLst>
      <p:ext uri="{BB962C8B-B14F-4D97-AF65-F5344CB8AC3E}">
        <p14:creationId xmlns:p14="http://schemas.microsoft.com/office/powerpoint/2010/main" val="342131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Решение – общее описание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Наш продукт:</a:t>
            </a:r>
            <a:r>
              <a:rPr lang="ru-RU" dirty="0"/>
              <a:t> </a:t>
            </a:r>
            <a:r>
              <a:rPr lang="ru-RU" dirty="0" err="1"/>
              <a:t>Десктопное</a:t>
            </a:r>
            <a:r>
              <a:rPr lang="ru-RU" dirty="0"/>
              <a:t> приложение для комплексного расчёта экономической эффективности разработки ПО.</a:t>
            </a:r>
          </a:p>
          <a:p>
            <a:r>
              <a:rPr lang="ru-RU" b="1" dirty="0"/>
              <a:t>Ключевые возможности:</a:t>
            </a:r>
            <a:endParaRPr lang="ru-RU" dirty="0"/>
          </a:p>
          <a:p>
            <a:r>
              <a:rPr lang="ru-RU" dirty="0"/>
              <a:t>Ввод всех необходимых параметров (трудозатраты, финансовые показатели, амортизация).</a:t>
            </a:r>
          </a:p>
          <a:p>
            <a:r>
              <a:rPr lang="ru-RU" dirty="0"/>
              <a:t>Автоматический расчёт по 13 формулам из утверждённой методики (ГОСТ, учебные пособия).</a:t>
            </a:r>
          </a:p>
          <a:p>
            <a:r>
              <a:rPr lang="ru-RU" dirty="0"/>
              <a:t>Подробный отчёт с </a:t>
            </a:r>
            <a:r>
              <a:rPr lang="ru-RU" b="1" dirty="0"/>
              <a:t>выводом каждой формулы</a:t>
            </a:r>
            <a:r>
              <a:rPr lang="ru-RU" dirty="0"/>
              <a:t> в общем виде и с подстановкой значений.</a:t>
            </a:r>
          </a:p>
          <a:p>
            <a:r>
              <a:rPr lang="ru-RU" b="1" dirty="0"/>
              <a:t>Интерактивная расшифровка</a:t>
            </a:r>
            <a:r>
              <a:rPr lang="ru-RU" dirty="0"/>
              <a:t> переменных при клике на блок формулы.</a:t>
            </a:r>
          </a:p>
          <a:p>
            <a:r>
              <a:rPr lang="ru-RU" b="1" dirty="0"/>
              <a:t>Графики</a:t>
            </a:r>
            <a:r>
              <a:rPr lang="ru-RU" dirty="0"/>
              <a:t>: структура затрат, точка безубыточности, денежный поток, ежемесячные доходы/расходы.</a:t>
            </a:r>
          </a:p>
          <a:p>
            <a:r>
              <a:rPr lang="ru-RU" b="1" dirty="0"/>
              <a:t>Экспорт</a:t>
            </a:r>
            <a:r>
              <a:rPr lang="ru-RU" dirty="0"/>
              <a:t> всех данных в CSV для дальнейшего использования в отчётах.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158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Конкуренты (сравнительный анализ)</a:t>
            </a:r>
            <a:br>
              <a:rPr lang="ru-RU" b="1" dirty="0"/>
            </a:b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1009090"/>
              </p:ext>
            </p:extLst>
          </p:nvPr>
        </p:nvGraphicFramePr>
        <p:xfrm>
          <a:off x="1096963" y="1846263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152895536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4343024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59320360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6602396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  <a:latin typeface="quote-cjk-patch"/>
                        </a:rPr>
                        <a:t>Критерий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effectLst/>
                          <a:latin typeface="quote-cjk-patch"/>
                        </a:rPr>
                        <a:t>Excel-</a:t>
                      </a:r>
                      <a:r>
                        <a:rPr lang="ru-RU" sz="1400" b="0">
                          <a:effectLst/>
                          <a:latin typeface="quote-cjk-patch"/>
                        </a:rPr>
                        <a:t>шаблоны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  <a:latin typeface="quote-cjk-patch"/>
                        </a:rPr>
                        <a:t>Онлайн-калькуляторы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quote-cjk-patch"/>
                        </a:rPr>
                        <a:t>Наше приложение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60493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Ввод данных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73887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Вывод формул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✅ (общая + подстановка)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9639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Расшифровка переменных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✅ (</a:t>
                      </a:r>
                      <a:r>
                        <a:rPr lang="ru-RU" sz="1400" b="0" dirty="0" err="1">
                          <a:effectLst/>
                          <a:latin typeface="quote-cjk-patch"/>
                        </a:rPr>
                        <a:t>кликабельные</a:t>
                      </a:r>
                      <a:r>
                        <a:rPr lang="ru-RU" sz="1400" b="0" dirty="0">
                          <a:effectLst/>
                          <a:latin typeface="quote-cjk-patch"/>
                        </a:rPr>
                        <a:t> блоки)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70331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Визуализация (графики)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❌ (ручные)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✅ (автоматические)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9625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Экспорт в </a:t>
                      </a:r>
                      <a:r>
                        <a:rPr lang="en-US" sz="1400" b="0">
                          <a:effectLst/>
                          <a:latin typeface="quote-cjk-patch"/>
                        </a:rPr>
                        <a:t>CSV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5957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Автономность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✅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46830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quote-cjk-patch"/>
                        </a:rPr>
                        <a:t>Уникальность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—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—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  <a:latin typeface="quote-cjk-patch"/>
                        </a:rPr>
                        <a:t>Полная прозрачность расчёта, удобство проверки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8219156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6963" y="5612766"/>
            <a:ext cx="10693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Вывод:</a:t>
            </a:r>
            <a:r>
              <a:rPr lang="ru-RU" dirty="0"/>
              <a:t> Наше приложение превосходит аналоги по наглядности и образовательной ценности, особенно для студентов и начинающих разработчиков.</a:t>
            </a:r>
          </a:p>
        </p:txBody>
      </p:sp>
    </p:spTree>
    <p:extLst>
      <p:ext uri="{BB962C8B-B14F-4D97-AF65-F5344CB8AC3E}">
        <p14:creationId xmlns:p14="http://schemas.microsoft.com/office/powerpoint/2010/main" val="364359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Объём рынка (TAM, SAM, SOM)</a:t>
            </a:r>
            <a:br>
              <a:rPr lang="pl-PL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Оценка потенциального рынка (условно для России</a:t>
            </a:r>
            <a:r>
              <a:rPr lang="ru-RU" i="1" dirty="0" smtClean="0"/>
              <a:t>):</a:t>
            </a:r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962458"/>
              </p:ext>
            </p:extLst>
          </p:nvPr>
        </p:nvGraphicFramePr>
        <p:xfrm>
          <a:off x="1625600" y="2336393"/>
          <a:ext cx="9530080" cy="3777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5040">
                  <a:extLst>
                    <a:ext uri="{9D8B030D-6E8A-4147-A177-3AD203B41FA5}">
                      <a16:colId xmlns:a16="http://schemas.microsoft.com/office/drawing/2014/main" val="2629641527"/>
                    </a:ext>
                  </a:extLst>
                </a:gridCol>
                <a:gridCol w="4765040">
                  <a:extLst>
                    <a:ext uri="{9D8B030D-6E8A-4147-A177-3AD203B41FA5}">
                      <a16:colId xmlns:a16="http://schemas.microsoft.com/office/drawing/2014/main" val="2633568516"/>
                    </a:ext>
                  </a:extLst>
                </a:gridCol>
              </a:tblGrid>
              <a:tr h="375505"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effectLst/>
                          <a:latin typeface="quote-cjk-patch"/>
                        </a:rPr>
                        <a:t>Показатель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effectLst/>
                          <a:latin typeface="quote-cjk-patch"/>
                        </a:rPr>
                        <a:t>Оценка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512944762"/>
                  </a:ext>
                </a:extLst>
              </a:tr>
              <a:tr h="1083664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TAM</a:t>
                      </a:r>
                      <a:r>
                        <a:rPr lang="ru-RU" sz="1600" b="0">
                          <a:effectLst/>
                          <a:latin typeface="quote-cjk-patch"/>
                        </a:rPr>
                        <a:t> (Total Addressable Market) — все, кто может использовать калькулятор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~1 500 000 человек (студенты IT-специальностей + начинающие IT-предприниматели + менеджеры IT-отделов)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42402107"/>
                  </a:ext>
                </a:extLst>
              </a:tr>
              <a:tr h="893362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quote-cjk-patch"/>
                        </a:rPr>
                        <a:t>SAM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 (</a:t>
                      </a:r>
                      <a:r>
                        <a:rPr lang="ru-RU" sz="1600" b="0" dirty="0" err="1">
                          <a:effectLst/>
                          <a:latin typeface="quote-cjk-patch"/>
                        </a:rPr>
                        <a:t>Serviceable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sz="1600" b="0" dirty="0" err="1">
                          <a:effectLst/>
                          <a:latin typeface="quote-cjk-patch"/>
                        </a:rPr>
                        <a:t>Addressable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 </a:t>
                      </a:r>
                      <a:r>
                        <a:rPr lang="ru-RU" sz="1600" b="0" dirty="0" err="1">
                          <a:effectLst/>
                          <a:latin typeface="quote-cjk-patch"/>
                        </a:rPr>
                        <a:t>Market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) — те, кто готов платить за удобный инструмент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~300 000 человек (студенты дипломных проектов, </a:t>
                      </a:r>
                      <a:r>
                        <a:rPr lang="ru-RU" sz="1600" b="0" dirty="0" err="1">
                          <a:effectLst/>
                          <a:latin typeface="quote-cjk-patch"/>
                        </a:rPr>
                        <a:t>стартапы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95248654"/>
                  </a:ext>
                </a:extLst>
              </a:tr>
              <a:tr h="893362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SOM</a:t>
                      </a:r>
                      <a:r>
                        <a:rPr lang="ru-RU" sz="1600" b="0">
                          <a:effectLst/>
                          <a:latin typeface="quote-cjk-patch"/>
                        </a:rPr>
                        <a:t> (Serviceable Obtainable Market) — доля, которую мы можем занять за 1 год при маркетинговых усилиях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~30 000 пользователей (≈10% от SAM)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604833349"/>
                  </a:ext>
                </a:extLst>
              </a:tr>
              <a:tr h="444038">
                <a:tc gridSpan="2">
                  <a:txBody>
                    <a:bodyPr/>
                    <a:lstStyle/>
                    <a:p>
                      <a:r>
                        <a:rPr lang="ru-RU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Потенциальный доход (при условной цене 500 руб./год):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15 млн руб./год (SOM).</a:t>
                      </a:r>
                      <a:endParaRPr lang="ru-RU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057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52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Архитектура и стек технологий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400" b="1" dirty="0"/>
              <a:t>Архитектура:</a:t>
            </a:r>
            <a:r>
              <a:rPr lang="ru-RU" sz="1400" dirty="0"/>
              <a:t> MVP (</a:t>
            </a:r>
            <a:r>
              <a:rPr lang="ru-RU" sz="1400" dirty="0" err="1"/>
              <a:t>Model-View-ViewModel</a:t>
            </a:r>
            <a:r>
              <a:rPr lang="ru-RU" sz="1400" dirty="0"/>
              <a:t>) – построена на паттерне MVVM, разделяет логику расчёта, отображения и управления</a:t>
            </a:r>
            <a:r>
              <a:rPr lang="ru-RU" sz="1400" dirty="0" smtClean="0"/>
              <a:t>.</a:t>
            </a:r>
          </a:p>
          <a:p>
            <a:endParaRPr lang="ru-RU" sz="1400" dirty="0"/>
          </a:p>
          <a:p>
            <a:r>
              <a:rPr lang="ru-RU" sz="1400" b="1" dirty="0"/>
              <a:t>Стек:</a:t>
            </a:r>
            <a:endParaRPr lang="ru-RU" sz="1400" dirty="0"/>
          </a:p>
          <a:p>
            <a:r>
              <a:rPr lang="ru-RU" sz="1400" b="1" dirty="0"/>
              <a:t>Язык:</a:t>
            </a:r>
            <a:r>
              <a:rPr lang="ru-RU" sz="1400" dirty="0"/>
              <a:t> </a:t>
            </a:r>
            <a:r>
              <a:rPr lang="ru-RU" sz="1400" dirty="0" err="1"/>
              <a:t>Python</a:t>
            </a:r>
            <a:r>
              <a:rPr lang="ru-RU" sz="1400" dirty="0"/>
              <a:t> 3.10+</a:t>
            </a:r>
          </a:p>
          <a:p>
            <a:r>
              <a:rPr lang="ru-RU" sz="1400" b="1" dirty="0"/>
              <a:t>Фреймворк GUI:</a:t>
            </a:r>
            <a:r>
              <a:rPr lang="ru-RU" sz="1400" dirty="0"/>
              <a:t> PySide6 (</a:t>
            </a:r>
            <a:r>
              <a:rPr lang="ru-RU" sz="1400" dirty="0" err="1"/>
              <a:t>Qt</a:t>
            </a:r>
            <a:r>
              <a:rPr lang="ru-RU" sz="1400" dirty="0"/>
              <a:t> для </a:t>
            </a:r>
            <a:r>
              <a:rPr lang="ru-RU" sz="1400" dirty="0" err="1"/>
              <a:t>Python</a:t>
            </a:r>
            <a:r>
              <a:rPr lang="ru-RU" sz="1400" dirty="0"/>
              <a:t>) – кроссплатформенность</a:t>
            </a:r>
          </a:p>
          <a:p>
            <a:r>
              <a:rPr lang="ru-RU" sz="1400" b="1" dirty="0"/>
              <a:t>Графика:</a:t>
            </a:r>
            <a:r>
              <a:rPr lang="ru-RU" sz="1400" dirty="0"/>
              <a:t> </a:t>
            </a:r>
            <a:r>
              <a:rPr lang="ru-RU" sz="1400" dirty="0" err="1"/>
              <a:t>Matplotlib</a:t>
            </a:r>
            <a:r>
              <a:rPr lang="ru-RU" sz="1400" dirty="0"/>
              <a:t> + </a:t>
            </a:r>
            <a:r>
              <a:rPr lang="ru-RU" sz="1400" dirty="0" err="1"/>
              <a:t>NumPy</a:t>
            </a:r>
            <a:endParaRPr lang="ru-RU" sz="1400" dirty="0"/>
          </a:p>
          <a:p>
            <a:r>
              <a:rPr lang="ru-RU" sz="1400" b="1" dirty="0"/>
              <a:t>Локализация:</a:t>
            </a:r>
            <a:r>
              <a:rPr lang="ru-RU" sz="1400" dirty="0"/>
              <a:t> поддержка русского языка, формат чисел с запятой и пробелами</a:t>
            </a:r>
          </a:p>
          <a:p>
            <a:r>
              <a:rPr lang="ru-RU" sz="1400" b="1" dirty="0"/>
              <a:t>Экспорт данных:</a:t>
            </a:r>
            <a:r>
              <a:rPr lang="ru-RU" sz="1400" dirty="0"/>
              <a:t> встроенный модуль CSV</a:t>
            </a:r>
          </a:p>
          <a:p>
            <a:r>
              <a:rPr lang="ru-RU" sz="1400" b="1" dirty="0"/>
              <a:t>Структура приложения:</a:t>
            </a:r>
            <a:endParaRPr lang="ru-RU" sz="1400" dirty="0"/>
          </a:p>
          <a:p>
            <a:r>
              <a:rPr lang="ru-RU" sz="1400" dirty="0"/>
              <a:t>Вкладка «Ввод данных» – все параметры</a:t>
            </a:r>
          </a:p>
          <a:p>
            <a:r>
              <a:rPr lang="ru-RU" sz="1400" dirty="0"/>
              <a:t>Вкладка «Результаты» – подробный отчёт с </a:t>
            </a:r>
            <a:r>
              <a:rPr lang="ru-RU" sz="1400" dirty="0" err="1"/>
              <a:t>кликабельными</a:t>
            </a:r>
            <a:r>
              <a:rPr lang="ru-RU" sz="1400" dirty="0"/>
              <a:t> блоками</a:t>
            </a:r>
          </a:p>
          <a:p>
            <a:r>
              <a:rPr lang="ru-RU" sz="1400" dirty="0"/>
              <a:t>Вкладка «Графики» – 4 интерактивных графика с возможностью масштабирования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867538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576890"/>
            <a:ext cx="10058400" cy="14507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 Бизнес-модель (каналы привлечения, ценность)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11711" y="2027646"/>
            <a:ext cx="306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Ценностное предложение: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484380" y="2380902"/>
            <a:ext cx="33165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Экономия времени на расчёты (вместо 2–3 часов – 2 минуты).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Минимизация ошибок → принятие верных бизнес-решений.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Образовательная ценность – понимание каждой формулы и её смысла.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5060" y="2048301"/>
            <a:ext cx="306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Каналы привлечения: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4470400" y="2324408"/>
            <a:ext cx="36234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Социальные сети (</a:t>
            </a:r>
            <a:r>
              <a:rPr lang="ru-RU" dirty="0" err="1"/>
              <a:t>Telegram</a:t>
            </a:r>
            <a:r>
              <a:rPr lang="ru-RU" dirty="0"/>
              <a:t>-каналы для IT-студентов, </a:t>
            </a:r>
            <a:r>
              <a:rPr lang="ru-RU" dirty="0" err="1"/>
              <a:t>LinkedIn</a:t>
            </a:r>
            <a:r>
              <a:rPr lang="ru-RU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Партнёрство с вузами (включение в методические пособия).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Бесплатные </a:t>
            </a:r>
            <a:r>
              <a:rPr lang="ru-RU" dirty="0" err="1"/>
              <a:t>вебинары</a:t>
            </a:r>
            <a:r>
              <a:rPr lang="ru-RU" dirty="0"/>
              <a:t> по теме «Оценка экономической эффективности IT-проектов».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Платформа для дипломных работ и </a:t>
            </a:r>
            <a:r>
              <a:rPr lang="ru-RU" dirty="0" err="1"/>
              <a:t>стартап</a:t>
            </a:r>
            <a:r>
              <a:rPr lang="ru-RU" dirty="0"/>
              <a:t>-акселераторов.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85" y="2027646"/>
            <a:ext cx="306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Маркетинговая стратегия: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348485" y="2318155"/>
            <a:ext cx="33165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Распространение </a:t>
            </a:r>
            <a:r>
              <a:rPr lang="ru-RU" dirty="0" err="1"/>
              <a:t>демо</a:t>
            </a:r>
            <a:r>
              <a:rPr lang="ru-RU" dirty="0"/>
              <a:t>-версии через сайт проекта и </a:t>
            </a:r>
            <a:r>
              <a:rPr lang="ru-RU" dirty="0" err="1"/>
              <a:t>GitHub</a:t>
            </a:r>
            <a:r>
              <a:rPr lang="ru-R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Отзывы первых пользователей (студентов) → кейсы.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SEO-оптимизация под запросы «калькулятор экономической эффективности ПО».</a:t>
            </a:r>
          </a:p>
        </p:txBody>
      </p:sp>
    </p:spTree>
    <p:extLst>
      <p:ext uri="{BB962C8B-B14F-4D97-AF65-F5344CB8AC3E}">
        <p14:creationId xmlns:p14="http://schemas.microsoft.com/office/powerpoint/2010/main" val="778262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Заключение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Результат:</a:t>
            </a:r>
            <a:endParaRPr lang="ru-RU" dirty="0"/>
          </a:p>
          <a:p>
            <a:r>
              <a:rPr lang="ru-RU" dirty="0"/>
              <a:t>Создано готовое к использованию приложение, решающее конкретную задачу.</a:t>
            </a:r>
          </a:p>
          <a:p>
            <a:r>
              <a:rPr lang="ru-RU" dirty="0"/>
              <a:t>Приложение соответствует методике расчёта из дипломных работ и может быть рекомендовано для учебных целей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b="1" dirty="0"/>
              <a:t>Перспективы развития:</a:t>
            </a:r>
            <a:endParaRPr lang="ru-RU" dirty="0"/>
          </a:p>
          <a:p>
            <a:r>
              <a:rPr lang="ru-RU" dirty="0"/>
              <a:t>Веб-версия с сохранением проектов в облаке.</a:t>
            </a:r>
          </a:p>
          <a:p>
            <a:r>
              <a:rPr lang="ru-RU" dirty="0"/>
              <a:t>Интеграция с системами учёта (1С, </a:t>
            </a:r>
            <a:r>
              <a:rPr lang="ru-RU" dirty="0" err="1"/>
              <a:t>Excel</a:t>
            </a:r>
            <a:r>
              <a:rPr lang="ru-RU" dirty="0"/>
              <a:t>).</a:t>
            </a:r>
          </a:p>
          <a:p>
            <a:r>
              <a:rPr lang="ru-RU" dirty="0"/>
              <a:t>Добавление дополнительных методик расчёта (не только для ПО, но и для других проектов).</a:t>
            </a:r>
          </a:p>
          <a:p>
            <a:r>
              <a:rPr lang="ru-RU" dirty="0"/>
              <a:t>Мобильное приложение для быстрых оценок «на ходу».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691550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</TotalTime>
  <Words>705</Words>
  <Application>Microsoft Office PowerPoint</Application>
  <PresentationFormat>Широкоэкранный</PresentationFormat>
  <Paragraphs>114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quote-cjk-patch</vt:lpstr>
      <vt:lpstr>Ретро</vt:lpstr>
      <vt:lpstr>Калькулятор экономической эффективности разработки программного обеспечения</vt:lpstr>
      <vt:lpstr>Проблема и целевая аудитория </vt:lpstr>
      <vt:lpstr>Решение – общее описание </vt:lpstr>
      <vt:lpstr>Конкуренты (сравнительный анализ) </vt:lpstr>
      <vt:lpstr>Объём рынка (TAM, SAM, SOM) </vt:lpstr>
      <vt:lpstr>Архитектура и стек технологий </vt:lpstr>
      <vt:lpstr> Бизнес-модель (каналы привлечения, ценность) 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Калькулятор экономической эффективности разработки программного обеспечения</dc:title>
  <dc:creator>Иван</dc:creator>
  <cp:lastModifiedBy>Иван</cp:lastModifiedBy>
  <cp:revision>14</cp:revision>
  <dcterms:created xsi:type="dcterms:W3CDTF">2026-06-24T21:43:17Z</dcterms:created>
  <dcterms:modified xsi:type="dcterms:W3CDTF">2026-06-25T19:25:22Z</dcterms:modified>
</cp:coreProperties>
</file>